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leaming-selkie-d2a496.netlify.app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D2D2"/>
                </a:solidFill>
                <a:latin typeface="Aptos"/>
              </a:rPr>
              <a:t>BCA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6675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8FCFD"/>
                </a:solidFill>
                <a:latin typeface="Aptos"/>
              </a:rPr>
              <a:t>Hospital Patient
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73352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CEDF2"/>
                </a:solidFill>
                <a:latin typeface="Aptos"/>
              </a:rPr>
              <a:t>Smart • Digital • Organized Hospital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487168"/>
            <a:ext cx="2880360" cy="1508760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" y="2423160"/>
            <a:ext cx="2880360" cy="1508760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" y="2423160"/>
            <a:ext cx="59436" cy="15087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0A6A6"/>
                </a:solidFill>
                <a:latin typeface="Aptos"/>
              </a:rPr>
              <a:t>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60320"/>
            <a:ext cx="1984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90088"/>
            <a:ext cx="2459736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A web-based system that helps hospital staff manage important hospital information and daily activities digitally in one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58183" y="2487168"/>
            <a:ext cx="2880360" cy="1508760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3320" y="2423160"/>
            <a:ext cx="2880360" cy="1508760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2423160"/>
            <a:ext cx="59436" cy="1508760"/>
          </a:xfrm>
          <a:prstGeom prst="rect">
            <a:avLst/>
          </a:prstGeom>
          <a:solidFill>
            <a:srgbClr val="30B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1" y="2542032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30B97D"/>
                </a:solidFill>
                <a:latin typeface="Aptos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560320"/>
            <a:ext cx="1984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Main Motive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2990088"/>
            <a:ext cx="2459736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To make hospital management simple, organized and faster by reducing manual work and making records easy to access.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4251960"/>
            <a:ext cx="5971032" cy="1170432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" y="4187952"/>
            <a:ext cx="5971032" cy="1170432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" y="4187952"/>
            <a:ext cx="59436" cy="1170432"/>
          </a:xfrm>
          <a:prstGeom prst="rect">
            <a:avLst/>
          </a:prstGeom>
          <a:solidFill>
            <a:srgbClr val="2D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0682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D82DC"/>
                </a:solidFill>
                <a:latin typeface="Aptos"/>
              </a:rPr>
              <a:t>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32511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Key Idea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55504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Patients + Doctors + Appointments + Emergency + Beds + Prescriptions + Lab + Billing + Reports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1325880"/>
            <a:ext cx="1234440" cy="393192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18120" y="2697480"/>
            <a:ext cx="3977639" cy="123444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9202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8FCFD"/>
                </a:solidFill>
                <a:latin typeface="Aptos"/>
              </a:rPr>
              <a:t>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5262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1D2D2"/>
                </a:solidFill>
                <a:latin typeface="Aptos"/>
              </a:rPr>
              <a:t>BETTER MANAGEMENT
FASTER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6B1BC"/>
                </a:solidFill>
                <a:latin typeface="Aptos"/>
              </a:rPr>
              <a:t>Hospital Patient Management System • BCA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8309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6B1B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CFD"/>
                </a:solidFill>
                <a:latin typeface="Aptos"/>
              </a:rPr>
              <a:t>1. Problem, Objective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955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6B1BC"/>
                </a:solidFill>
                <a:latin typeface="Aptos"/>
              </a:rPr>
              <a:t>Why the project was created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" y="1344168"/>
            <a:ext cx="3520440" cy="1965960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3520440" cy="1965960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59436" cy="1965960"/>
          </a:xfrm>
          <a:prstGeom prst="rect">
            <a:avLst/>
          </a:prstGeom>
          <a:solidFill>
            <a:srgbClr val="E1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99031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E15353"/>
                </a:solidFill>
                <a:latin typeface="Aptos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417319"/>
            <a:ext cx="2624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847088"/>
            <a:ext cx="309981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Manual hospital records can be difficult to search, update and organize. Different activities may require separate records and more staff effort.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" y="3557015"/>
            <a:ext cx="3520440" cy="1965960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3493008"/>
            <a:ext cx="3520440" cy="1965960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493008"/>
            <a:ext cx="59436" cy="1965960"/>
          </a:xfrm>
          <a:prstGeom prst="rect">
            <a:avLst/>
          </a:prstGeom>
          <a:solidFill>
            <a:srgbClr val="30B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611879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30B97D"/>
                </a:solidFill>
                <a:latin typeface="Aptos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630168"/>
            <a:ext cx="2624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Project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059935"/>
            <a:ext cx="309981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Create one simple digital platform to manage patient records, appointments, emergency cases and other important hospital activities.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98264" y="1344168"/>
            <a:ext cx="3520440" cy="1965960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1280160"/>
            <a:ext cx="3520440" cy="1965960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280160"/>
            <a:ext cx="59436" cy="1965960"/>
          </a:xfrm>
          <a:prstGeom prst="rect">
            <a:avLst/>
          </a:prstGeom>
          <a:solidFill>
            <a:srgbClr val="2D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1399031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D82DC"/>
                </a:solidFill>
                <a:latin typeface="Aptos"/>
              </a:rPr>
              <a:t>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1417319"/>
            <a:ext cx="2624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Target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1847088"/>
            <a:ext cx="309981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Admin • Receptionist • Doctor • Nurse • Lab Staff • Billing Staff
Current version is a frontend prototype with a demo login.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8264" y="3557015"/>
            <a:ext cx="3520440" cy="1965960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43400" y="3493008"/>
            <a:ext cx="3520440" cy="1965960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493008"/>
            <a:ext cx="59436" cy="1965960"/>
          </a:xfrm>
          <a:prstGeom prst="rect">
            <a:avLst/>
          </a:prstGeom>
          <a:solidFill>
            <a:srgbClr val="F5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3611879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5A646"/>
                </a:solidFill>
                <a:latin typeface="Aptos"/>
              </a:rPr>
              <a:t>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56632" y="3630168"/>
            <a:ext cx="2624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Tools / Technologies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4059935"/>
            <a:ext cx="309981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HTML → Structure
CSS → UI &amp; 3D-style design
JavaScript → Logic &amp; interaction
LocalStorage → Browser data saving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47304" y="1344168"/>
            <a:ext cx="3474720" cy="417880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92440" y="1280160"/>
            <a:ext cx="3474720" cy="417880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2440" y="1280160"/>
            <a:ext cx="59436" cy="4178808"/>
          </a:xfrm>
          <a:prstGeom prst="rect">
            <a:avLst/>
          </a:prstGeom>
          <a:solidFill>
            <a:srgbClr val="41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7031" y="1399031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41D2D2"/>
                </a:solidFill>
                <a:latin typeface="Aptos"/>
              </a:rPr>
              <a:t>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5672" y="1417319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Simple Example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1847088"/>
            <a:ext cx="305409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Receptionist → adds patient &amp; books appointment
Doctor → views patient &amp; adds prescription
Emergency → patients wait in FIFO queue
Billing → creates bill &amp; checks 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6B1BC"/>
                </a:solidFill>
                <a:latin typeface="Aptos"/>
              </a:rPr>
              <a:t>Hospital Patient Management System • BCA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8309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6B1B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CFD"/>
                </a:solidFill>
                <a:latin typeface="Aptos"/>
              </a:rPr>
              <a:t>2. Main 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955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6B1BC"/>
                </a:solidFill>
                <a:latin typeface="Aptos"/>
              </a:rPr>
              <a:t>One platform for major hospital activities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" y="1344168"/>
            <a:ext cx="3456432" cy="129844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3456432" cy="129844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59436" cy="129844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99031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0A6A6"/>
                </a:solidFill>
                <a:latin typeface="Aptos"/>
              </a:rPr>
              <a:t>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4173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Patient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847088"/>
            <a:ext cx="3035808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Add • Edit • Delete •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344168"/>
            <a:ext cx="3456432" cy="129844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280160"/>
            <a:ext cx="3456432" cy="129844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280160"/>
            <a:ext cx="59436" cy="1298448"/>
          </a:xfrm>
          <a:prstGeom prst="rect">
            <a:avLst/>
          </a:prstGeom>
          <a:solidFill>
            <a:srgbClr val="30B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1399031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30B97D"/>
                </a:solidFill>
                <a:latin typeface="Aptos"/>
              </a:rPr>
              <a:t>👨‍⚕️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8344" y="14173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Doctor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847088"/>
            <a:ext cx="3035808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Doctor details &amp; availability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0728" y="1344168"/>
            <a:ext cx="3456432" cy="129844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55864" y="1280160"/>
            <a:ext cx="3456432" cy="129844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4" y="1280160"/>
            <a:ext cx="59436" cy="1298448"/>
          </a:xfrm>
          <a:prstGeom prst="rect">
            <a:avLst/>
          </a:prstGeom>
          <a:solidFill>
            <a:srgbClr val="2D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1399031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D82DC"/>
                </a:solidFill>
                <a:latin typeface="Aptos"/>
              </a:rPr>
              <a:t>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9096" y="14173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Appointments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1847088"/>
            <a:ext cx="3035808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Book &amp; track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" y="2916936"/>
            <a:ext cx="3456432" cy="129844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2852928"/>
            <a:ext cx="3456432" cy="129844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2852928"/>
            <a:ext cx="59436" cy="1298448"/>
          </a:xfrm>
          <a:prstGeom prst="rect">
            <a:avLst/>
          </a:prstGeom>
          <a:solidFill>
            <a:srgbClr val="E1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297180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E15353"/>
                </a:solidFill>
                <a:latin typeface="Aptos"/>
              </a:rPr>
              <a:t>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7592" y="2990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Emergency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3419856"/>
            <a:ext cx="3035808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Urgent cases using queue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9976" y="2916936"/>
            <a:ext cx="3456432" cy="129844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25112" y="2852928"/>
            <a:ext cx="3456432" cy="129844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25112" y="2852928"/>
            <a:ext cx="59436" cy="1298448"/>
          </a:xfrm>
          <a:prstGeom prst="rect">
            <a:avLst/>
          </a:prstGeom>
          <a:solidFill>
            <a:srgbClr val="F5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9704" y="297180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5A646"/>
                </a:solidFill>
                <a:latin typeface="Aptos"/>
              </a:rPr>
              <a:t>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38344" y="2990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Bed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5424" y="3419856"/>
            <a:ext cx="3035808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Occupied / available beds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10728" y="2916936"/>
            <a:ext cx="3456432" cy="129844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55864" y="2852928"/>
            <a:ext cx="3456432" cy="129844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55864" y="2852928"/>
            <a:ext cx="59436" cy="129844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0456" y="297180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0A6A6"/>
                </a:solidFill>
                <a:latin typeface="Aptos"/>
              </a:rPr>
              <a:t>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9096" y="2990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Prescriptions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6176" y="3419856"/>
            <a:ext cx="3035808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Medicine &amp; dosage records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" y="4489704"/>
            <a:ext cx="3456432" cy="129844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94360" y="4425696"/>
            <a:ext cx="3456432" cy="129844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" y="4425696"/>
            <a:ext cx="59436" cy="1298448"/>
          </a:xfrm>
          <a:prstGeom prst="rect">
            <a:avLst/>
          </a:prstGeom>
          <a:solidFill>
            <a:srgbClr val="30B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" y="454456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30B97D"/>
                </a:solidFill>
                <a:latin typeface="Aptos"/>
              </a:rPr>
              <a:t>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07592" y="45628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Lab Reports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4992624"/>
            <a:ext cx="3035808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Tests &amp;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79976" y="4489704"/>
            <a:ext cx="3456432" cy="129844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325112" y="4425696"/>
            <a:ext cx="3456432" cy="129844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5112" y="4425696"/>
            <a:ext cx="59436" cy="1298448"/>
          </a:xfrm>
          <a:prstGeom prst="rect">
            <a:avLst/>
          </a:prstGeom>
          <a:solidFill>
            <a:srgbClr val="F5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9704" y="454456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5A646"/>
                </a:solidFill>
                <a:latin typeface="Aptos"/>
              </a:rPr>
              <a:t>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38344" y="45628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Billing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35424" y="4992624"/>
            <a:ext cx="3035808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Bills &amp; revenue summary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10728" y="4489704"/>
            <a:ext cx="3456432" cy="129844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055864" y="4425696"/>
            <a:ext cx="3456432" cy="129844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55864" y="4425696"/>
            <a:ext cx="59436" cy="1298448"/>
          </a:xfrm>
          <a:prstGeom prst="rect">
            <a:avLst/>
          </a:prstGeom>
          <a:solidFill>
            <a:srgbClr val="41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0456" y="454456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41D2D2"/>
                </a:solidFill>
                <a:latin typeface="Aptos"/>
              </a:rPr>
              <a:t>📊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69096" y="45628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Reports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66176" y="4992624"/>
            <a:ext cx="3035808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Summary &amp; DSA information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072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6B1BC"/>
                </a:solidFill>
                <a:latin typeface="Aptos"/>
              </a:rPr>
              <a:t>Hospital Patient Management System • BCA Project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01400" y="648309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6B1B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CFD"/>
                </a:solidFill>
                <a:latin typeface="Aptos"/>
              </a:rPr>
              <a:t>3. DSA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955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6B1BC"/>
                </a:solidFill>
                <a:latin typeface="Aptos"/>
              </a:rPr>
              <a:t>How BCA Data Structures are used in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" y="1362456"/>
            <a:ext cx="3520440" cy="1371600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3520440" cy="1371600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98448"/>
            <a:ext cx="59436" cy="13716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17319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0A6A6"/>
                </a:solidFill>
                <a:latin typeface="Aptos"/>
              </a:rPr>
              <a:t>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435607"/>
            <a:ext cx="2624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Array /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865376"/>
            <a:ext cx="309981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Patient and doctor records are stored as structured lists.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" y="2971800"/>
            <a:ext cx="3520440" cy="1371600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2907792"/>
            <a:ext cx="3520440" cy="1371600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907792"/>
            <a:ext cx="59436" cy="1371600"/>
          </a:xfrm>
          <a:prstGeom prst="rect">
            <a:avLst/>
          </a:prstGeom>
          <a:solidFill>
            <a:srgbClr val="2D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02666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D82DC"/>
                </a:solidFill>
                <a:latin typeface="Aptos"/>
              </a:rPr>
              <a:t>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044952"/>
            <a:ext cx="2624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Linear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474720"/>
            <a:ext cx="309981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Checks patient records one by one to find the required patient.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" y="4581144"/>
            <a:ext cx="3520440" cy="1371600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" y="4517136"/>
            <a:ext cx="3520440" cy="1371600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4517136"/>
            <a:ext cx="59436" cy="1371600"/>
          </a:xfrm>
          <a:prstGeom prst="rect">
            <a:avLst/>
          </a:prstGeom>
          <a:solidFill>
            <a:srgbClr val="F5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63600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5A646"/>
                </a:solidFill>
                <a:latin typeface="Aptos"/>
              </a:rPr>
              <a:t>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4654296"/>
            <a:ext cx="2624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Sorting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084064"/>
            <a:ext cx="309981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Arranges patient records by age for easier viewing.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5696" y="1362456"/>
            <a:ext cx="3520440" cy="1371600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70832" y="1298448"/>
            <a:ext cx="3520440" cy="1371600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70832" y="1298448"/>
            <a:ext cx="59436" cy="1371600"/>
          </a:xfrm>
          <a:prstGeom prst="rect">
            <a:avLst/>
          </a:prstGeom>
          <a:solidFill>
            <a:srgbClr val="E1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1417319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E15353"/>
                </a:solidFill>
                <a:latin typeface="Aptos"/>
              </a:rPr>
              <a:t>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4064" y="1435607"/>
            <a:ext cx="2624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1865376"/>
            <a:ext cx="309981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Emergency patients are placed in a waiting queue.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2971800"/>
            <a:ext cx="3520440" cy="1371600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70832" y="2907792"/>
            <a:ext cx="3520440" cy="1371600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0832" y="2907792"/>
            <a:ext cx="59436" cy="1371600"/>
          </a:xfrm>
          <a:prstGeom prst="rect">
            <a:avLst/>
          </a:prstGeom>
          <a:solidFill>
            <a:srgbClr val="30B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5424" y="302666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30B97D"/>
                </a:solidFill>
                <a:latin typeface="Aptos"/>
              </a:rPr>
              <a:t>1→2→3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3044952"/>
            <a:ext cx="2624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FIFO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3474720"/>
            <a:ext cx="309981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First In, First Out: the earliest emergency entry is served first.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25696" y="4581144"/>
            <a:ext cx="3520440" cy="1371600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70832" y="4517136"/>
            <a:ext cx="3520440" cy="1371600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70832" y="4517136"/>
            <a:ext cx="59436" cy="1371600"/>
          </a:xfrm>
          <a:prstGeom prst="rect">
            <a:avLst/>
          </a:prstGeom>
          <a:solidFill>
            <a:srgbClr val="41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35424" y="463600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41D2D2"/>
                </a:solidFill>
                <a:latin typeface="Aptos"/>
              </a:rPr>
              <a:t>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84064" y="4654296"/>
            <a:ext cx="2624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Practical 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5084064"/>
            <a:ext cx="309981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The project connects DSA theory with a real-life hospital problem.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13533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1D2D2"/>
                </a:solidFill>
                <a:latin typeface="Aptos"/>
              </a:rPr>
              <a:t>EMERGENCY QUEUE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1874519"/>
            <a:ext cx="2926080" cy="640080"/>
          </a:xfrm>
          <a:prstGeom prst="roundRect">
            <a:avLst/>
          </a:prstGeom>
          <a:solidFill>
            <a:srgbClr val="113746"/>
          </a:solidFill>
          <a:ln>
            <a:solidFill>
              <a:srgbClr val="E15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202996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CFD"/>
                </a:solidFill>
                <a:latin typeface="Aptos"/>
              </a:rPr>
              <a:t>1  Rohit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2834639"/>
            <a:ext cx="2926080" cy="640080"/>
          </a:xfrm>
          <a:prstGeom prst="roundRect">
            <a:avLst/>
          </a:prstGeom>
          <a:solidFill>
            <a:srgbClr val="113746"/>
          </a:solidFill>
          <a:ln>
            <a:solidFill>
              <a:srgbClr val="F5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299008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CFD"/>
                </a:solidFill>
                <a:latin typeface="Aptos"/>
              </a:rPr>
              <a:t>2  Anjali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3794760"/>
            <a:ext cx="2926080" cy="640080"/>
          </a:xfrm>
          <a:prstGeom prst="roundRect">
            <a:avLst/>
          </a:prstGeom>
          <a:solidFill>
            <a:srgbClr val="113746"/>
          </a:solidFill>
          <a:ln>
            <a:solidFill>
              <a:srgbClr val="30B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39502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CFD"/>
                </a:solidFill>
                <a:latin typeface="Aptos"/>
              </a:rPr>
              <a:t>3  Mohan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0292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0B97D"/>
                </a:solidFill>
                <a:latin typeface="Aptos"/>
              </a:rPr>
              <a:t>Serve Next → Rohit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6B1BC"/>
                </a:solidFill>
                <a:latin typeface="Aptos"/>
              </a:rPr>
              <a:t>Hospital Patient Management System • BCA Project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01400" y="648309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6B1B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CFD"/>
                </a:solidFill>
                <a:latin typeface="Aptos"/>
              </a:rPr>
              <a:t>4. Complete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955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6B1BC"/>
                </a:solidFill>
                <a:latin typeface="Aptos"/>
              </a:rPr>
              <a:t>Step-by-step working of the website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1252728"/>
            <a:ext cx="530352" cy="53035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5303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72034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6464" y="1280160"/>
            <a:ext cx="4645152" cy="93268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1216152"/>
            <a:ext cx="4645152" cy="93268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1216152"/>
            <a:ext cx="59436" cy="932688"/>
          </a:xfrm>
          <a:prstGeom prst="rect">
            <a:avLst/>
          </a:prstGeom>
          <a:solidFill>
            <a:srgbClr val="41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2" y="133502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41D2D2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2" y="13533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1783080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User enters login details.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1252728"/>
            <a:ext cx="530352" cy="53035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71600"/>
            <a:ext cx="5303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72034"/>
                </a:solidFill>
                <a:latin typeface="Apto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86016" y="1280160"/>
            <a:ext cx="4645152" cy="93268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31152" y="1216152"/>
            <a:ext cx="4645152" cy="93268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31152" y="1216152"/>
            <a:ext cx="59436" cy="932688"/>
          </a:xfrm>
          <a:prstGeom prst="rect">
            <a:avLst/>
          </a:prstGeom>
          <a:solidFill>
            <a:srgbClr val="30B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5744" y="133502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30B97D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4383" y="13533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464" y="1783080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View important hospital statistics.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2450592"/>
            <a:ext cx="530352" cy="53035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569464"/>
            <a:ext cx="5303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72034"/>
                </a:solidFill>
                <a:latin typeface="Aptos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26464" y="2478024"/>
            <a:ext cx="4645152" cy="93268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71600" y="2414016"/>
            <a:ext cx="4645152" cy="93268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" y="2414016"/>
            <a:ext cx="59436" cy="93268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36192" y="253288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0A6A6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2" y="255117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Patient &amp; Doctor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81912" y="2980944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Manage records and availability.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2450592"/>
            <a:ext cx="530352" cy="53035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569464"/>
            <a:ext cx="5303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72034"/>
                </a:solidFill>
                <a:latin typeface="Aptos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86016" y="2478024"/>
            <a:ext cx="4645152" cy="93268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31152" y="2414016"/>
            <a:ext cx="4645152" cy="93268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31152" y="2414016"/>
            <a:ext cx="59436" cy="932688"/>
          </a:xfrm>
          <a:prstGeom prst="rect">
            <a:avLst/>
          </a:prstGeom>
          <a:solidFill>
            <a:srgbClr val="2D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95744" y="253288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D82DC"/>
                </a:solidFill>
                <a:latin typeface="Aptos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44383" y="255117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Appointments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41464" y="2980944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Book and track appointments.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" y="3648456"/>
            <a:ext cx="530352" cy="53035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3767328"/>
            <a:ext cx="5303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72034"/>
                </a:solidFill>
                <a:latin typeface="Aptos"/>
              </a:rP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26464" y="3675888"/>
            <a:ext cx="4645152" cy="93268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71600" y="3611880"/>
            <a:ext cx="4645152" cy="93268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371600" y="3611880"/>
            <a:ext cx="59436" cy="932688"/>
          </a:xfrm>
          <a:prstGeom prst="rect">
            <a:avLst/>
          </a:prstGeom>
          <a:solidFill>
            <a:srgbClr val="E1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36192" y="3730752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E15353"/>
                </a:solidFill>
                <a:latin typeface="Aptos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84832" y="37490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Emergency &amp; Beds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81912" y="4178808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Manage FIFO queue and bed status.</a:t>
            </a:r>
          </a:p>
        </p:txBody>
      </p:sp>
      <p:sp>
        <p:nvSpPr>
          <p:cNvPr id="45" name="Oval 44"/>
          <p:cNvSpPr/>
          <p:nvPr/>
        </p:nvSpPr>
        <p:spPr>
          <a:xfrm>
            <a:off x="6217920" y="3648456"/>
            <a:ext cx="530352" cy="53035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767328"/>
            <a:ext cx="5303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72034"/>
                </a:solidFill>
                <a:latin typeface="Aptos"/>
              </a:rPr>
              <a:t>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86016" y="3675888"/>
            <a:ext cx="4645152" cy="93268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931152" y="3611880"/>
            <a:ext cx="4645152" cy="93268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31152" y="3611880"/>
            <a:ext cx="59436" cy="93268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95744" y="3730752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0A6A6"/>
                </a:solidFill>
                <a:latin typeface="Aptos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44383" y="37490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Care Records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41464" y="4178808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Maintain prescriptions and lab reports.</a:t>
            </a:r>
          </a:p>
        </p:txBody>
      </p:sp>
      <p:sp>
        <p:nvSpPr>
          <p:cNvPr id="53" name="Oval 52"/>
          <p:cNvSpPr/>
          <p:nvPr/>
        </p:nvSpPr>
        <p:spPr>
          <a:xfrm>
            <a:off x="658368" y="4846320"/>
            <a:ext cx="530352" cy="53035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4965192"/>
            <a:ext cx="5303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72034"/>
                </a:solidFill>
                <a:latin typeface="Aptos"/>
              </a:rPr>
              <a:t>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426464" y="4873752"/>
            <a:ext cx="4645152" cy="93268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371600" y="4809744"/>
            <a:ext cx="4645152" cy="93268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371600" y="4809744"/>
            <a:ext cx="59436" cy="932688"/>
          </a:xfrm>
          <a:prstGeom prst="rect">
            <a:avLst/>
          </a:prstGeom>
          <a:solidFill>
            <a:srgbClr val="30B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36192" y="492861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30B97D"/>
                </a:solidFill>
                <a:latin typeface="Aptos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84832" y="494690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Billing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81912" y="5376672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Create bills and track revenue.</a:t>
            </a:r>
          </a:p>
        </p:txBody>
      </p:sp>
      <p:sp>
        <p:nvSpPr>
          <p:cNvPr id="61" name="Oval 60"/>
          <p:cNvSpPr/>
          <p:nvPr/>
        </p:nvSpPr>
        <p:spPr>
          <a:xfrm>
            <a:off x="6217920" y="4846320"/>
            <a:ext cx="530352" cy="53035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4965192"/>
            <a:ext cx="5303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72034"/>
                </a:solidFill>
                <a:latin typeface="Aptos"/>
              </a:rPr>
              <a:t>8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986016" y="4873752"/>
            <a:ext cx="4645152" cy="93268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931152" y="4809744"/>
            <a:ext cx="4645152" cy="93268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931152" y="4809744"/>
            <a:ext cx="59436" cy="932688"/>
          </a:xfrm>
          <a:prstGeom prst="rect">
            <a:avLst/>
          </a:prstGeom>
          <a:solidFill>
            <a:srgbClr val="41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95744" y="492861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41D2D2"/>
                </a:solidFill>
                <a:latin typeface="Aptos"/>
              </a:rPr>
              <a:t/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44383" y="494690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Reports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41464" y="5376672"/>
            <a:ext cx="4224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View overall summary and DSA use.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61722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1D2D2"/>
                </a:solidFill>
                <a:latin typeface="Aptos"/>
              </a:rPr>
              <a:t>USER → LOGIN → DASHBOARD → MODULES → DATA → REPORTS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6072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6B1BC"/>
                </a:solidFill>
                <a:latin typeface="Aptos"/>
              </a:rPr>
              <a:t>Hospital Patient Management System • BCA Project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01400" y="648309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6B1B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CFD"/>
                </a:solidFill>
                <a:latin typeface="Aptos"/>
              </a:rPr>
              <a:t>5. Result,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9552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6B1BC"/>
                </a:solidFill>
                <a:latin typeface="Aptos"/>
              </a:rPr>
              <a:t>What we achieved and what can be improved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" y="1344168"/>
            <a:ext cx="3474720" cy="2057400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3474720" cy="2057400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59436" cy="2057400"/>
          </a:xfrm>
          <a:prstGeom prst="rect">
            <a:avLst/>
          </a:prstGeom>
          <a:solidFill>
            <a:srgbClr val="30B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99031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30B97D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417319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Result / Achievement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847088"/>
            <a:ext cx="30540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✓ Professional hospital interface
✓ Multiple working modules
✓ Search &amp; sorting
✓ Emergency FIFO queue
✓ Bed, lab, prescription &amp; billing modules
✓ Dashboard &amp;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" y="3657600"/>
            <a:ext cx="3474720" cy="2029968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3593592"/>
            <a:ext cx="3474720" cy="2029968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593592"/>
            <a:ext cx="59436" cy="2029968"/>
          </a:xfrm>
          <a:prstGeom prst="rect">
            <a:avLst/>
          </a:prstGeom>
          <a:solidFill>
            <a:srgbClr val="F5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71246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5A646"/>
                </a:solidFill>
                <a:latin typeface="Aptos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730752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Current Limitation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160520"/>
            <a:ext cx="305409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The current version is a frontend prototype. It uses one demo login and browser LocalStorage. It does not yet have a server-side database or real employee permissions.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1" y="1344168"/>
            <a:ext cx="3474720" cy="4343400"/>
          </a:xfrm>
          <a:prstGeom prst="round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15968" y="1280160"/>
            <a:ext cx="3474720" cy="4343400"/>
          </a:xfrm>
          <a:prstGeom prst="roundRect">
            <a:avLst/>
          </a:prstGeom>
          <a:solidFill>
            <a:srgbClr val="113746"/>
          </a:solidFill>
          <a:ln>
            <a:solidFill>
              <a:srgbClr val="285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280160"/>
            <a:ext cx="59436" cy="4343400"/>
          </a:xfrm>
          <a:prstGeom prst="rect">
            <a:avLst/>
          </a:prstGeom>
          <a:solidFill>
            <a:srgbClr val="41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1399031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41D2D2"/>
                </a:solidFill>
                <a:latin typeface="Aptos"/>
              </a:rPr>
              <a:t>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417319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F8FCFD"/>
                </a:solidFill>
                <a:latin typeface="Aptos"/>
              </a:rPr>
              <a:t>Future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1847088"/>
            <a:ext cx="3054096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DCEDF2"/>
                </a:solidFill>
                <a:latin typeface="Aptos"/>
              </a:rPr>
              <a:t>1. Node.js / Express backend
2. MySQL database
3. Separate employee accounts
4. Role-Based Access Control
5. Secure password authentication
6. Cloud deployment
7. Real hospital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325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1D2D2"/>
                </a:solidFill>
                <a:latin typeface="Aptos"/>
              </a:rPr>
              <a:t>FUTURE ARCHITECTURE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7888" y="1856231"/>
            <a:ext cx="2907792" cy="594360"/>
          </a:xfrm>
          <a:prstGeom prst="roundRect">
            <a:avLst/>
          </a:prstGeom>
          <a:solidFill>
            <a:srgbClr val="11374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75904" y="1975103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>
                <a:solidFill>
                  <a:srgbClr val="00A6A6"/>
                </a:solidFill>
                <a:latin typeface="Aptos"/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1975103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>
                <a:solidFill>
                  <a:srgbClr val="F8FCFD"/>
                </a:solidFill>
                <a:latin typeface="Aptos"/>
              </a:rPr>
              <a:t>HTML • CSS • JS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4736" y="2569463"/>
            <a:ext cx="2907792" cy="594360"/>
          </a:xfrm>
          <a:prstGeom prst="roundRect">
            <a:avLst/>
          </a:prstGeom>
          <a:solidFill>
            <a:srgbClr val="113746"/>
          </a:solidFill>
          <a:ln>
            <a:solidFill>
              <a:srgbClr val="30B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2688335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>
                <a:solidFill>
                  <a:srgbClr val="30B97D"/>
                </a:solidFill>
                <a:latin typeface="Aptos"/>
              </a:rPr>
              <a:t>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688335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>
                <a:solidFill>
                  <a:srgbClr val="F8FCFD"/>
                </a:solidFill>
                <a:latin typeface="Aptos"/>
              </a:rPr>
              <a:t>Node.js / Express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3" y="3282696"/>
            <a:ext cx="2907792" cy="594360"/>
          </a:xfrm>
          <a:prstGeom prst="roundRect">
            <a:avLst/>
          </a:prstGeom>
          <a:solidFill>
            <a:srgbClr val="113746"/>
          </a:solidFill>
          <a:ln>
            <a:solidFill>
              <a:srgbClr val="F5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40156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>
                <a:solidFill>
                  <a:srgbClr val="F5A646"/>
                </a:solidFill>
                <a:latin typeface="Aptos"/>
              </a:rPr>
              <a:t>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340156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>
                <a:solidFill>
                  <a:srgbClr val="F8FCFD"/>
                </a:solidFill>
                <a:latin typeface="Aptos"/>
              </a:rPr>
              <a:t>MySQL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8431" y="3995927"/>
            <a:ext cx="2907792" cy="594360"/>
          </a:xfrm>
          <a:prstGeom prst="roundRect">
            <a:avLst/>
          </a:prstGeom>
          <a:solidFill>
            <a:srgbClr val="113746"/>
          </a:solidFill>
          <a:ln>
            <a:solidFill>
              <a:srgbClr val="2D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6448" y="4114799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>
                <a:solidFill>
                  <a:srgbClr val="2D82DC"/>
                </a:solidFill>
                <a:latin typeface="Aptos"/>
              </a:rPr>
              <a:t>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9136" y="4114799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>
                <a:solidFill>
                  <a:srgbClr val="F8FCFD"/>
                </a:solidFill>
                <a:latin typeface="Aptos"/>
              </a:rPr>
              <a:t>Login + Roles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983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8FCFD"/>
                </a:solidFill>
                <a:latin typeface="Aptos"/>
              </a:rPr>
              <a:t>THANK YOU
Questions?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96B1BC"/>
                </a:solidFill>
                <a:latin typeface="Aptos"/>
              </a:rPr>
              <a:t>Hospital Patient Management System • BCA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8309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6B1B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43B"/>
                </a:solidFill>
                <a:latin typeface="Aptos Display"/>
              </a:defRPr>
            </a:pPr>
            <a:r>
              <a:t>Project Demonstration &amp; Live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65F64"/>
                </a:solidFill>
                <a:latin typeface="Aptos"/>
              </a:defRPr>
            </a:pPr>
            <a:r>
              <a:t>Hospital Patient Management System using Data 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88136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57200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796B"/>
                </a:solidFill>
                <a:latin typeface="Aptos Display"/>
              </a:defRPr>
            </a:pPr>
            <a:r>
              <a:t>MedCare Hospital</a:t>
            </a:r>
          </a:p>
          <a:p>
            <a:pPr>
              <a:spcAft>
                <a:spcPts val="800"/>
              </a:spcAft>
              <a:defRPr sz="1500">
                <a:solidFill>
                  <a:srgbClr val="374B50"/>
                </a:solidFill>
                <a:latin typeface="Aptos"/>
              </a:defRPr>
            </a:pPr>
            <a:r>
              <a:t>✓ Patient &amp; Doctor Management</a:t>
            </a:r>
          </a:p>
          <a:p>
            <a:pPr>
              <a:spcAft>
                <a:spcPts val="800"/>
              </a:spcAft>
              <a:defRPr sz="1500">
                <a:solidFill>
                  <a:srgbClr val="374B50"/>
                </a:solidFill>
                <a:latin typeface="Aptos"/>
              </a:defRPr>
            </a:pPr>
            <a:r>
              <a:t>✓ Appointments &amp; Emergency Queue</a:t>
            </a:r>
          </a:p>
          <a:p>
            <a:pPr>
              <a:spcAft>
                <a:spcPts val="800"/>
              </a:spcAft>
              <a:defRPr sz="1500">
                <a:solidFill>
                  <a:srgbClr val="374B50"/>
                </a:solidFill>
                <a:latin typeface="Aptos"/>
              </a:defRPr>
            </a:pPr>
            <a:r>
              <a:t>✓ Bed Management &amp; Care Records</a:t>
            </a:r>
          </a:p>
          <a:p>
            <a:pPr>
              <a:spcAft>
                <a:spcPts val="800"/>
              </a:spcAft>
              <a:defRPr sz="1500">
                <a:solidFill>
                  <a:srgbClr val="374B50"/>
                </a:solidFill>
                <a:latin typeface="Aptos"/>
              </a:defRPr>
            </a:pPr>
            <a:r>
              <a:t>✓ Billing, Lab Reports &amp; Reports</a:t>
            </a:r>
          </a:p>
          <a:p>
            <a:pPr>
              <a:spcAft>
                <a:spcPts val="800"/>
              </a:spcAft>
              <a:defRPr sz="1500">
                <a:solidFill>
                  <a:srgbClr val="374B50"/>
                </a:solidFill>
                <a:latin typeface="Aptos"/>
              </a:defRPr>
            </a:pPr>
            <a:r>
              <a:t>✓ Practical DSA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2148840"/>
            <a:ext cx="5257800" cy="2057400"/>
          </a:xfrm>
          <a:prstGeom prst="roundRect">
            <a:avLst/>
          </a:prstGeom>
          <a:solidFill>
            <a:srgbClr val="E8F8F6"/>
          </a:solidFill>
          <a:ln>
            <a:solidFill>
              <a:srgbClr val="80C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24231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695C"/>
                </a:solidFill>
                <a:latin typeface="Aptos Display"/>
              </a:defRPr>
            </a:pPr>
            <a:r>
              <a:t>🌐 LIVE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92608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066CC"/>
                </a:solidFill>
                <a:latin typeface="Aptos"/>
              </a:defRPr>
            </a:pPr>
            <a:r>
              <a:rPr>
                <a:hlinkClick r:id="rId2"/>
              </a:rPr>
              <a:t>Open MedCare Hospital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36576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06469"/>
                </a:solidFill>
                <a:latin typeface="Aptos"/>
              </a:defRPr>
            </a:pPr>
            <a:r>
              <a:t>Click the link to open the live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343B"/>
                </a:solidFill>
                <a:latin typeface="Aptos"/>
              </a:defRPr>
            </a:pPr>
            <a:r>
              <a:t>Thank You  •  Ready for Project Demonstration &amp; Viva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